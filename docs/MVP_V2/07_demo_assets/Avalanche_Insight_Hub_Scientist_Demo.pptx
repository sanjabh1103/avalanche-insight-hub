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61520" cy="1828800"/>
          </a:xfrm>
          <a:prstGeom prst="rect">
            <a:avLst/>
          </a:prstGeom>
          <a:solidFill>
            <a:srgbClr val="2C3E5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Avalanche Insight Hub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Support for Himalayan Avalanche Risk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prototype for scientist review and validation partnership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8288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24, 2026  |  Scientist Demo Session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decision-support prototype — not an official warning service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Himalayan Avalanche Forecasting Is Hard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systemic challenges from 20+ years of research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4747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3200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Environment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AWS network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manual data collection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occurrence records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data integration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4747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371600"/>
            <a:ext cx="54864" cy="32004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Algorithmic Limits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18745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redundancy &amp; overfitting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physical processes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calibration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4747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371600"/>
            <a:ext cx="54864" cy="3200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Constraints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18745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Spatial-temporal disconnect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bottlenecks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optima in calibration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non-stationarity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846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approaches treat space and time independently, use compensatory risk models, and rely on sparse local stations that fail during storms.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Insight Hub  |  Experimental Decision-Support Prototype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Lineage &amp; Respect for Prior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decades of Himalayan avalanche science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46304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2008-2015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2011680"/>
            <a:ext cx="0" cy="320040"/>
          </a:xfrm>
          <a:prstGeom prst="line">
            <a:avLst/>
          </a:prstGeom>
          <a:noFill/>
          <a:ln w="25400">
            <a:solidFill>
              <a:srgbClr val="95A5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3716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SASE/DGRE k-NN models, eNN10 calibration, ABC optimization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46304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2016-2020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2971800"/>
            <a:ext cx="0" cy="320040"/>
          </a:xfrm>
          <a:prstGeom prst="line">
            <a:avLst/>
          </a:prstGeom>
          <a:noFill/>
          <a:ln w="25400">
            <a:solidFill>
              <a:srgbClr val="95A5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331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HIM-STRAT neural snowpack, SNOWPACK limitations in Himalayas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146304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91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2021-2023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931920"/>
            <a:ext cx="0" cy="320040"/>
          </a:xfrm>
          <a:prstGeom prst="line">
            <a:avLst/>
          </a:prstGeom>
          <a:noFill/>
          <a:ln w="25400">
            <a:solidFill>
              <a:srgbClr val="95A5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291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detection with Sentinel-1, class imbalance research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251960"/>
            <a:ext cx="146304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51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63040" y="4892040"/>
            <a:ext cx="0" cy="320040"/>
          </a:xfrm>
          <a:prstGeom prst="line">
            <a:avLst/>
          </a:prstGeom>
          <a:noFill/>
          <a:ln w="25400">
            <a:solidFill>
              <a:srgbClr val="95A5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4251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RAvaFcast (Swiss 3-stage), Mission Mausam, DRDO AI pilot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212080"/>
            <a:ext cx="146304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212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5212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Insight Hub: integrated decision-support platform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60320" y="5669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build on your team's work; we do not replace it."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Insight Hub  |  Experimental Decision-Support Prototype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Architecture — Batch-First, Zero-Cost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compute offline, published artifacts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ABC9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Weather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64592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6459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Batch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89320" y="164592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6459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Database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0" y="164592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9189720" y="16459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16459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Netlify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scheduled inference + manual dispatch (zero-cost CI/CD)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Modal.com: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Off-path GPU for candidate MTS-LSTM and SAR training (not production)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Storage + Edge Functions + RLS policies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Netlify: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frontend hosting with instant deploys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 for production inference. No runtime synthesis. Every forecast has provenance and timestamp.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Insight Hub  |  Experimental Decision-Support Prototype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Pipeline — From Weather to Risk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20x20 grid, 72-hour horizon, 400 cells per region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50876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63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fetch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74520" y="1463040"/>
            <a:ext cx="155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29968" y="1463040"/>
            <a:ext cx="150876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029968" y="1463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terrain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38728" y="1463040"/>
            <a:ext cx="155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94176" y="1463040"/>
            <a:ext cx="150876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94176" y="1463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02936" y="1463040"/>
            <a:ext cx="155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58384" y="1463040"/>
            <a:ext cx="150876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358384" y="1463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inference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calibration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67144" y="1463040"/>
            <a:ext cx="155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22592" y="1463040"/>
            <a:ext cx="1508760" cy="10058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7022592" y="1463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Chebyshev IPA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fusion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31352" y="1463040"/>
            <a:ext cx="155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86800" y="1463040"/>
            <a:ext cx="1508760" cy="10058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463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195560" y="1463040"/>
            <a:ext cx="155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351008" y="1463040"/>
            <a:ext cx="1508760" cy="10058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10351008" y="1463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0175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hours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83280" y="30175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8328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338328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cells per region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0175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1792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621792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worldwide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52560" y="30175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05256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905256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fusion criteria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754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gets: weather features, terrain features (slope/aspect/elevation/roughness), snowpack proxy, calibrated probability, Chebyshev IPA risk level, SHAP explainability, and uncertainty bounds.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Insight Hub  |  Experimental Decision-Support Prototype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Class Imbalance &amp; Feature Selection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events require specialized ML techniques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4572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Imbalance Solutions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KMeansSMOTE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oversampling (k=5, cluster_balance=0.1)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RF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{0:1, 1:4} — 4x false-negative penalty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 as Primary Metric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Peirce Skill Score — not accuracy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CV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chronological folds, no temporal leakage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MTS-LSTM Governance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SMOTE in sequence space — weighted sampling + focal loss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371600"/>
            <a:ext cx="54864" cy="45720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SVM-RFE Feature Selection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19202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raw features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snowfall, wind, radiation, terrain...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SVM-RFE reduces to ~15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cross-validation-based elimination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selected features: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snowfall (24h/72h), cumulative seasonal snow, min/max temp, wind speed/loading, sunshine duration, slope, aspect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conditions ripen over 2-3 days, not instantaneously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Insight Hub  |  Experimental Decision-Support Prototype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Non-Compensatory Risk Fusion — The Key Innovation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Chebyshev Ideal Point Analysis prevents false safety scores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Weighted Linear Additive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slope (10 deg) + heavy snowfall = "Moderate" risk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10 deg slope will NEVER avalanche.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terrain masks critical weather triggers.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physically wrong and dangerous.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03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371600"/>
            <a:ext cx="54864" cy="20116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Chebyshev IPA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19202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Non-compensatory: dominant criterion drives risk.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terrain CANNOT mask critical weather.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weighted deviation from ideal hazard point.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application in avalanche forecasting.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5-Criteria Hazard Vector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0972800" cy="201168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66751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captures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Model-predicted avalanche probability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 deviation from 38 deg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Avalanche-prone slope angle (peak at 38 deg)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loading / solar radiation by 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Snowpack weakness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Inverse of shear strength (weak layer proxy)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/ road proximity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Insight Hub  |  Experimental Decision-Support Prototype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— TreeSHAP in the UI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black-box trust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risk-driver breakdown shows exactly WHY the model assigned a risk score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SHAP contributions for a Considerable-risk cell: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snowfall_24h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2423160"/>
            <a:ext cx="274320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wind_loading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2926080"/>
            <a:ext cx="201168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slope_angle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3429000"/>
            <a:ext cx="146304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cumulative_snow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3931920"/>
            <a:ext cx="1097280" cy="2743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3886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aspect_loading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4434840"/>
            <a:ext cx="731520" cy="2743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4389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temp_gradient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94560" y="4937760"/>
            <a:ext cx="54864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828800"/>
            <a:ext cx="54864" cy="4114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46520" y="237744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TreeSHAP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exact for tree ensembles (not approximation)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bar chart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top contributing features in the UI dashboard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fallback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explanation with FALLBACK badge when SHAP artifact unavailable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model only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on RF surrogate, not MTS-LSTM internals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Insight Hub  |  Experimental Decision-Support Prototype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— Colorado Rockies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published 72-hour forecast artifact</a:t>
            </a:r>
            <a:endParaRPr lang="en-US" sz="1400" dirty="0"/>
          </a:p>
        </p:txBody>
      </p:sp>
      <p:pic>
        <p:nvPicPr>
          <p:cNvPr id="5" name="Image 0" descr="docs/MVP_V2/07_demo_assets/screenshots/demo-colorado-rock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8580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371600"/>
            <a:ext cx="3840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0" y="1371600"/>
            <a:ext cx="54864" cy="38404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Show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01000" y="192024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20x20 grid with 72h horizon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EAWS-style experimental bulletin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level + avalanche problem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slider navigation (hour 0-71)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inspection with SHAP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cues + confidence state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/ export / report workflows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BATCH - READY (72h)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https://avalanche-insight-hub.netlify.app/?region=Colorado%20Rockies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Insight Hub  |  Experimental Decision-Support Prototype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— Himalayas (Nepal)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capability demonstration — not validated Himalayan accuracy</a:t>
            </a:r>
            <a:endParaRPr lang="en-US" sz="1400" dirty="0"/>
          </a:p>
        </p:txBody>
      </p:sp>
      <p:pic>
        <p:nvPicPr>
          <p:cNvPr id="5" name="Image 0" descr="docs/MVP_V2/07_demo_assets/screenshots/demo-himalayas-nep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8580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371600"/>
            <a:ext cx="3840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0" y="1371600"/>
            <a:ext cx="54864" cy="3840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Himalayan Demo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01000" y="192024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level 3 (Considerable)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snow avalanche problem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400/400 cells ready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voxel terrain 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weather API (no AWS needed)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DEM: himalayas_nepal.tif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Snowpack proxy: seasonal_cumulative_v1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SAR: UNAVAILABLE (shadow-gated)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boundary: himalayan_accuracy_claim_allowed = false. This demonstrates pipeline capability, not validated operational accuracy.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Insight Hub  |  Experimental Decision-Support Prototype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Deep Learning Paths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behind promotion gates — not in production scoring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4389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Branched MTS-LSTM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Multi-timescale sequence model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branch: 32-hidden LSTM (weather dynamics)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branch: 24-hidden LSTM (snowpack evolution)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branch: 16-unit encoder (terrain)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gated: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Himalayan training data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gates not yet passed (PSS, Brier, stability)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alongside RF surrogate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SMOTE in sequence space — focal loss instead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0352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371600"/>
            <a:ext cx="54864" cy="43891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U-Net Segmentation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19202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C-band SAR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Cloud-penetrating, all-weather avalanche detection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 V2 Tiny U-Net (cold-start)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ResNet34-UNet (CNN baseline)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gated: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SAR_UNET_PROMOTED = false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Shadow-gated for label mining only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F1/IoU validation + region qualification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gate: 25-65 deg slope for training eligibility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Insight Hub  |  Experimental Decision-Support Prototype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Uncertainty, Honesty &amp; Claim Boundaries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locks prevent premature operational claims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22860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 Communication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state: normal / reduced (with reasons)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class: low / medium / high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 per cell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/ unavailable / masked states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freshness badge: READY / STALE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371600"/>
            <a:ext cx="54864" cy="2286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Cannot Claim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19202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Himalayan operational accuracy (blocked)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warning 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SAR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MTS-LSTM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Field-validated against Himalayan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Language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0972800" cy="164592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 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BC9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"Fresh operational forecast"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"Latest published batch with freshness state"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"Official warning service"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"Experimental decision-support workspace"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"Production MTS-LSTM"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"Candidate MTS-LSTM with release gates"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"Validated Himalayan accuracy"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"Pipeline capability demonstration"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Insight Hub  |  Experimental Decision-Support Prototype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Scientist Co-Working &amp; Validation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experts — a structured review tool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/scientist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case validation, evidence attachments, verdicts, notes, exportable review artifacts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0972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51760"/>
            <a:ext cx="54864" cy="10058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/scientist/daily-verification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model-vs-scientist daily comparison with analytics and disagreement metrics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0972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840480"/>
            <a:ext cx="54864" cy="10058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controls, model status, source health, evaluation metrics, publication traces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Scientist review informs decisions; it does not automatically retrain or promote models.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outputs: feature ratings, scientific objections, data commitments, validation actions, next meeting scope.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Insight Hub  |  Experimental Decision-Support Prototype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respectful, scoped ask — only after team agrees to explore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9601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station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for weather and snowpack validation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5303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514600"/>
            <a:ext cx="54864" cy="9601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Snowpack profiles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Weak-layer identification and proxy validation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303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657600"/>
            <a:ext cx="54864" cy="9601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occurrence records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labels with accurate timing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703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303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800600"/>
            <a:ext cx="54864" cy="9601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Weak-layer taxonomy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166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definitions of critical weak layers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1371600"/>
            <a:ext cx="5303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1371600"/>
            <a:ext cx="54864" cy="9601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region selection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the validation geographically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98480" y="1417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2514600"/>
            <a:ext cx="5303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2514600"/>
            <a:ext cx="54864" cy="9601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Warning-region definitions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bulletins with local policy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698480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09360" y="3657600"/>
            <a:ext cx="5303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657600"/>
            <a:ext cx="54864" cy="9601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evidence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9224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validation gate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698480" y="3703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09360" y="4800600"/>
            <a:ext cx="5303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4800600"/>
            <a:ext cx="54864" cy="9601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report cases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92240" y="5166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Scientist-reviewed observations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69848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Exploratory Co-Development: Month 1: Evidence review | Month 2: Limited validation | Month 3: Results &amp; decision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Insight Hub  |  Experimental Decision-Support Prototype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Options &amp;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Benchmark-Design Workshop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286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session to define validation metrics, holdout slices, and scientist-approved cases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45920" y="3246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Scoped 3-Month Validation Pilot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research validation using agreed data and scientist review. Decision: continue, narrow, or stop.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4592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Deeper Co-Development Track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5029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partnership: data sharing, weak-layer program, SAR qualification, MTS-LSTM promotion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prototype is strong enough to show a credible direction. Himalayan operational claims wait for your reviewed evidence and scientist validation."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remain fully open to modifying the approach based on your team's guidance.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Avalanche Insight Hub - Scientist Demo</dc:title>
  <dc:subject>PptxGenJS Presentation</dc:subject>
  <dc:creator>Sanjay B</dc:creator>
  <cp:lastModifiedBy>Sanjay B</cp:lastModifiedBy>
  <cp:revision>1</cp:revision>
  <dcterms:created xsi:type="dcterms:W3CDTF">2026-06-21T16:06:51Z</dcterms:created>
  <dcterms:modified xsi:type="dcterms:W3CDTF">2026-06-21T16:06:51Z</dcterms:modified>
</cp:coreProperties>
</file>